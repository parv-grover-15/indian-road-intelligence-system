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C1D22"/>
          </a:solidFill>
          <a:ln w="12700">
            <a:solidFill>
              <a:srgbClr val="2C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59E0B"/>
                </a:solidFill>
              </a:defRPr>
            </a:pPr>
            <a:r>
              <a:t>ROAD//IQ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INDIAN ROAD INTELLIGENCE SYSTEM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An AI-Powered Computer Vision Platform for Real-Time Traffic Detection, Road Damage Assessment, and Safety Hazard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FINAL YEAR CAPSTONE / COMPUTER VISION RESEARCH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389120"/>
          </a:xfrm>
          <a:prstGeom prst="roundRect">
            <a:avLst/>
          </a:prstGeom>
          <a:solidFill>
            <a:srgbClr val="1C1D22"/>
          </a:solidFill>
          <a:ln w="12700">
            <a:solidFill>
              <a:srgbClr val="2C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🚨 Unstructured Traffic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Mixed traffic heterogeneity (auto-rickshaws, bikes, buses, pedestrians).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Lack of strict lane discipline &amp; varied vehicle scale diversity.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Classical lane detection methods fundamentally fail on unpainted Indian roads.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389120"/>
          </a:xfrm>
          <a:prstGeom prst="roundRect">
            <a:avLst/>
          </a:prstGeom>
          <a:solidFill>
            <a:srgbClr val="1C1D22"/>
          </a:solidFill>
          <a:ln w="12700">
            <a:solidFill>
              <a:srgbClr val="2C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⚠️ Severe Road Hazards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Potholes, structural cracks, and missing manholes cause thousands of accidents annually.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Traditional physical road monitoring is slow, expensive, and non-scalable.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Delayed maintenance leads to rapid pavement degradation.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389120"/>
          </a:xfrm>
          <a:prstGeom prst="roundRect">
            <a:avLst/>
          </a:prstGeom>
          <a:solidFill>
            <a:srgbClr val="1C1D22"/>
          </a:solidFill>
          <a:ln w="12700">
            <a:solidFill>
              <a:srgbClr val="2C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Real-Time AI Solution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Unified multi-model computer vision pipeline combining detection &amp; segmentation.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Automated pothole severity grading and spatial proximity hazard calculation.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Scalable dashcam image &amp; video monitoring system with instant JSON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Decoupled Multi-Model Pipeline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1C1D22"/>
          </a:solidFill>
          <a:ln w="12700">
            <a:solidFill>
              <a:srgbClr val="2C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🏗️ Core Architecture Principles</a:t>
            </a:r>
          </a:p>
          <a:p>
            <a:pPr>
              <a:spcBef>
                <a:spcPts val="800"/>
              </a:spcBef>
              <a:defRPr b="0" sz="1300">
                <a:solidFill>
                  <a:srgbClr val="94A3B8"/>
                </a:solidFill>
              </a:defRPr>
            </a:pPr>
            <a:r>
              <a:t>• Decoupled Adapter Layer: Abstract BaseModelAdapter pattern insulates third-party models.</a:t>
            </a:r>
          </a:p>
          <a:p>
            <a:pPr>
              <a:spcBef>
                <a:spcPts val="800"/>
              </a:spcBef>
              <a:defRPr b="0" sz="1300">
                <a:solidFill>
                  <a:srgbClr val="94A3B8"/>
                </a:solidFill>
              </a:defRPr>
            </a:pPr>
            <a:r>
              <a:t>• Graceful Degradation: System operates seamlessly even if individual custom models are offline.</a:t>
            </a:r>
          </a:p>
          <a:p>
            <a:pPr>
              <a:spcBef>
                <a:spcPts val="800"/>
              </a:spcBef>
              <a:defRPr b="0" sz="1300">
                <a:solidFill>
                  <a:srgbClr val="94A3B8"/>
                </a:solidFill>
              </a:defRPr>
            </a:pPr>
            <a:r>
              <a:t>• Single-Load Model Persistence: Models load exactly ONCE at initialization to preserve video FPS.</a:t>
            </a:r>
          </a:p>
          <a:p>
            <a:pPr>
              <a:spcBef>
                <a:spcPts val="800"/>
              </a:spcBef>
              <a:defRPr b="0" sz="1300">
                <a:solidFill>
                  <a:srgbClr val="94A3B8"/>
                </a:solidFill>
              </a:defRPr>
            </a:pPr>
            <a:r>
              <a:t>• Normalized Result Contract: Standardized bounding boxes, confidence scores, and segmentation masks.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1C1D22"/>
          </a:solidFill>
          <a:ln w="12700">
            <a:solidFill>
              <a:srgbClr val="2C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🧩 Model Stack Breakdown</a:t>
            </a:r>
          </a:p>
          <a:p>
            <a:pPr>
              <a:spcBef>
                <a:spcPts val="600"/>
              </a:spcBef>
              <a:defRPr b="0" sz="1100">
                <a:solidFill>
                  <a:srgbClr val="94A3B8"/>
                </a:solidFill>
              </a:defRPr>
            </a:pPr>
            <a:r>
              <a:t>• 1. Generic Object Detector</a:t>
            </a:r>
            <a:br/>
            <a:r>
              <a:t>  YOLOv8 (COCO) → Cars, Motorcycles, Buses, Trucks, Pedestrians</a:t>
            </a:r>
          </a:p>
          <a:p>
            <a:pPr>
              <a:spcBef>
                <a:spcPts val="600"/>
              </a:spcBef>
              <a:defRPr b="0" sz="1100">
                <a:solidFill>
                  <a:srgbClr val="94A3B8"/>
                </a:solidFill>
              </a:defRPr>
            </a:pPr>
            <a:r>
              <a:t>• 2. Road Damage Detector</a:t>
            </a:r>
            <a:br/>
            <a:r>
              <a:t>  RoadScanCV YOLO → Potholes, Cracks, Manholes</a:t>
            </a:r>
          </a:p>
          <a:p>
            <a:pPr>
              <a:spcBef>
                <a:spcPts val="600"/>
              </a:spcBef>
              <a:defRPr b="0" sz="1100">
                <a:solidFill>
                  <a:srgbClr val="94A3B8"/>
                </a:solidFill>
              </a:defRPr>
            </a:pPr>
            <a:r>
              <a:t>• 3. Drivable Area Segmenter</a:t>
            </a:r>
            <a:br/>
            <a:r>
              <a:t>  IDD U-Net (ResNet50) → Binary drivable road surface mask</a:t>
            </a:r>
          </a:p>
          <a:p>
            <a:pPr>
              <a:spcBef>
                <a:spcPts val="600"/>
              </a:spcBef>
              <a:defRPr b="0" sz="1100">
                <a:solidFill>
                  <a:srgbClr val="94A3B8"/>
                </a:solidFill>
              </a:defRPr>
            </a:pPr>
            <a:r>
              <a:t>• 4. Pothole Severity Engine</a:t>
            </a:r>
            <a:br/>
            <a:r>
              <a:t>  iWatchRoad Heuristic → Low, Moderate, High Severity classification</a:t>
            </a:r>
          </a:p>
          <a:p>
            <a:pPr>
              <a:spcBef>
                <a:spcPts val="600"/>
              </a:spcBef>
              <a:defRPr b="0" sz="1100">
                <a:solidFill>
                  <a:srgbClr val="94A3B8"/>
                </a:solidFill>
              </a:defRPr>
            </a:pPr>
            <a:r>
              <a:t>• 5. Traffic Sign Detector</a:t>
            </a:r>
            <a:br/>
            <a:r>
              <a:t>  YOLOv8s → 56 Indian signboard categories (Optional module)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ANALYSIS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Spatial Risk &amp; Road Hazard Indicator (0–100)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1C1D22"/>
          </a:solidFill>
          <a:ln w="12700">
            <a:solidFill>
              <a:srgbClr val="2C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🎯 Spatial Proximity Risk Engine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Euclidean Distance Calculation: Computes distance between road user centers and hazard bounding boxes.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CRITICAL Proximity Alerts: Triggered when distance is &lt; 75px between vulnerable users (pedestrians/cyclists) and severe potholes.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Visual Interaction Lines: Draws dynamic risk vectors connecting hazard pairs on output frames.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1C1D22"/>
          </a:solidFill>
          <a:ln w="12700">
            <a:solidFill>
              <a:srgbClr val="2C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📊 Road Hazard Indicator Heuristic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Transparent 0–100 Engineering Score Formula: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└ Pothole Severity (High: +15, Mod: +8, Low: +3)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└ Road User Vulnerability (Pedestrians: +7, Vehicles: +2)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└ Spatial Proximity Alert Penalty (+10 per critical alert)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└ Reduced Drivable Area Penalty (Unpaved/Blocked road)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Categorical Risk Scale: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🟢 0–24: LOW RISK | 🟡 25–54: MODERATE | 🟠 55–79: HIGH | 🔴 80–100: VERY HIGH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FRONTEND &amp;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ROAD//IQ Interactive Dashboard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057400"/>
          </a:xfrm>
          <a:prstGeom prst="roundRect">
            <a:avLst/>
          </a:prstGeom>
          <a:solidFill>
            <a:srgbClr val="1C1D22"/>
          </a:solidFill>
          <a:ln w="12700">
            <a:solidFill>
              <a:srgbClr val="2C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📷 Image &amp; 🎥 Video Pipelines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Supports drag-and-drop JPG/PNG images and frame-by-frame MP4/MOV video clips with model single-loading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057400"/>
          </a:xfrm>
          <a:prstGeom prst="roundRect">
            <a:avLst/>
          </a:prstGeom>
          <a:solidFill>
            <a:srgbClr val="1C1D22"/>
          </a:solidFill>
          <a:ln w="12700">
            <a:solidFill>
              <a:srgbClr val="2C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🎨 Overlay &amp; HUD Rendering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Renders color-coded bounding boxes, severity badges, transparent drivable mask overlays, and top-level HUD hazard banners.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5120640" cy="2057400"/>
          </a:xfrm>
          <a:prstGeom prst="roundRect">
            <a:avLst/>
          </a:prstGeom>
          <a:solidFill>
            <a:srgbClr val="1C1D22"/>
          </a:solidFill>
          <a:ln w="12700">
            <a:solidFill>
              <a:srgbClr val="2C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📜 Session History &amp; Export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Tracks timestamped session history in st.session_state and enables 1-click JSON technical report &amp; annotated video export.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94760"/>
            <a:ext cx="5120640" cy="2057400"/>
          </a:xfrm>
          <a:prstGeom prst="roundRect">
            <a:avLst/>
          </a:prstGeom>
          <a:solidFill>
            <a:srgbClr val="1C1D22"/>
          </a:solidFill>
          <a:ln w="12700">
            <a:solidFill>
              <a:srgbClr val="2C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93192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⚙️ Real-Time Component Monitor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Sidebar status dashboard monitoring model checkpoint availability and component health in real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VERIFICATION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Testing Results &amp; Future Expansion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1C1D22"/>
          </a:solidFill>
          <a:ln w="12700">
            <a:solidFill>
              <a:srgbClr val="2C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✅ Verification Summary</a:t>
            </a:r>
          </a:p>
          <a:p>
            <a:pPr>
              <a:spcBef>
                <a:spcPts val="800"/>
              </a:spcBef>
              <a:defRPr b="0" sz="1200">
                <a:solidFill>
                  <a:srgbClr val="94A3B8"/>
                </a:solidFill>
              </a:defRPr>
            </a:pPr>
            <a:r>
              <a:t>• Generic Object Detector: PASS (yolov8n.pt active &amp; tested)</a:t>
            </a:r>
          </a:p>
          <a:p>
            <a:pPr>
              <a:spcBef>
                <a:spcPts val="800"/>
              </a:spcBef>
              <a:defRPr b="0" sz="1200">
                <a:solidFill>
                  <a:srgbClr val="94A3B8"/>
                </a:solidFill>
              </a:defRPr>
            </a:pPr>
            <a:r>
              <a:t>• Pothole Severity Logic: PASS (iWatchRoad area logic operational)</a:t>
            </a:r>
          </a:p>
          <a:p>
            <a:pPr>
              <a:spcBef>
                <a:spcPts val="800"/>
              </a:spcBef>
              <a:defRPr b="0" sz="1200">
                <a:solidFill>
                  <a:srgbClr val="94A3B8"/>
                </a:solidFill>
              </a:defRPr>
            </a:pPr>
            <a:r>
              <a:t>• Image &amp; Video Pipelines: PASS (Zero syntax errors, full flow verified)</a:t>
            </a:r>
          </a:p>
          <a:p>
            <a:pPr>
              <a:spcBef>
                <a:spcPts val="800"/>
              </a:spcBef>
              <a:defRPr b="0" sz="1200">
                <a:solidFill>
                  <a:srgbClr val="94A3B8"/>
                </a:solidFill>
              </a:defRPr>
            </a:pPr>
            <a:r>
              <a:t>• Streamlit Dashboard: PASS (Full UI, history &amp; export operational)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1C1D22"/>
          </a:solidFill>
          <a:ln w="12700">
            <a:solidFill>
              <a:srgbClr val="2C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🚀 Future Expansion Roadmap</a:t>
            </a:r>
          </a:p>
          <a:p>
            <a:pPr>
              <a:spcBef>
                <a:spcPts val="800"/>
              </a:spcBef>
              <a:defRPr b="0" sz="1100">
                <a:solidFill>
                  <a:srgbClr val="94A3B8"/>
                </a:solidFill>
              </a:defRPr>
            </a:pPr>
            <a:r>
              <a:t>• Fine-Tuned Checkpoint Deployment</a:t>
            </a:r>
            <a:br/>
            <a:r>
              <a:t>  Place custom IDD U-Net and RoadScanCV weights into weights/ folder.</a:t>
            </a:r>
          </a:p>
          <a:p>
            <a:pPr>
              <a:spcBef>
                <a:spcPts val="800"/>
              </a:spcBef>
              <a:defRPr b="0" sz="1100">
                <a:solidFill>
                  <a:srgbClr val="94A3B8"/>
                </a:solidFill>
              </a:defRPr>
            </a:pPr>
            <a:r>
              <a:t>• Multi-Object Vehicle Tracking</a:t>
            </a:r>
            <a:br/>
            <a:r>
              <a:t>  Integrate ByteTrack / DeepSORT for frame-to-frame velocity estimation.</a:t>
            </a:r>
          </a:p>
          <a:p>
            <a:pPr>
              <a:spcBef>
                <a:spcPts val="800"/>
              </a:spcBef>
              <a:defRPr b="0" sz="1100">
                <a:solidFill>
                  <a:srgbClr val="94A3B8"/>
                </a:solidFill>
              </a:defRPr>
            </a:pPr>
            <a:r>
              <a:t>• GPU Hardware Acceleration</a:t>
            </a:r>
            <a:br/>
            <a:r>
              <a:t>  Deploy on CUDA GPU server for 30+ FPS real-time dashcam inference.</a:t>
            </a:r>
          </a:p>
          <a:p>
            <a:pPr>
              <a:spcBef>
                <a:spcPts val="800"/>
              </a:spcBef>
              <a:defRPr b="0" sz="1100">
                <a:solidFill>
                  <a:srgbClr val="94A3B8"/>
                </a:solidFill>
              </a:defRPr>
            </a:pPr>
            <a:r>
              <a:t>• Government GIS Portal Integration</a:t>
            </a:r>
            <a:br/>
            <a:r>
              <a:t>  Map pothole GPS coordinates directly to road authority repair queues.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